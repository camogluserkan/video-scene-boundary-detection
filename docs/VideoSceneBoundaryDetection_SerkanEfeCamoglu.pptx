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66"/>
  </p:normalViewPr>
  <p:slideViewPr>
    <p:cSldViewPr snapToGrid="0" snapToObjects="1">
      <p:cViewPr varScale="1">
        <p:scale>
          <a:sx n="98" d="100"/>
          <a:sy n="98" d="100"/>
        </p:scale>
        <p:origin x="954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BE870-F6B9-B047-B4EC-8B7FFB59D5DD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A407B-0804-7F4D-A06C-594D3F40FC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5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E32EF-F5E0-FB4C-9392-7B16CE20DF52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AACB8-4FB9-D44E-9BFD-2F27477F22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71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566400" cy="1470025"/>
          </a:xfrm>
        </p:spPr>
        <p:txBody>
          <a:bodyPr/>
          <a:lstStyle>
            <a:lvl1pPr algn="r">
              <a:defRPr>
                <a:latin typeface="Arial Narrow"/>
                <a:cs typeface="Arial Narrow"/>
              </a:defRPr>
            </a:lvl1pPr>
          </a:lstStyle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1067" y="3600450"/>
            <a:ext cx="9516533" cy="1752600"/>
          </a:xfrm>
        </p:spPr>
        <p:txBody>
          <a:bodyPr/>
          <a:lstStyle>
            <a:lvl1pPr marL="0" indent="0" algn="r">
              <a:buNone/>
              <a:defRPr>
                <a:solidFill>
                  <a:srgbClr val="000000"/>
                </a:solidFill>
                <a:latin typeface="Arial Narrow"/>
                <a:cs typeface="Arial Narrow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4E977-D7F9-6246-9B15-94C08D881614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38249" y="6486526"/>
            <a:ext cx="5531556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98028" y="6486526"/>
            <a:ext cx="925689" cy="365125"/>
          </a:xfrm>
        </p:spPr>
        <p:txBody>
          <a:bodyPr/>
          <a:lstStyle>
            <a:lvl1pPr>
              <a:defRPr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9417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20010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20687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652" y="164225"/>
            <a:ext cx="3391592" cy="160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9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55297" cy="760663"/>
          </a:xfrm>
        </p:spPr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55912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8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B0861-C1B3-B347-93DA-DDC54D6553D5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0946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1539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2216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Resim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8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71A8-CA29-D04F-9D2F-A382FC60CC17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Resi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8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2EE1-A741-3644-B696-32E159E5B0A8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Resim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1DF8-0910-4546-923C-2018FF20BE57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1065463"/>
            <a:ext cx="12192000" cy="0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0" y="1124726"/>
            <a:ext cx="12192000" cy="0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1192456"/>
            <a:ext cx="12192000" cy="0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906" y="130973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70706-8BF2-9A4F-8578-55653A2BBB3D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11940649" y="0"/>
            <a:ext cx="0" cy="6855884"/>
          </a:xfrm>
          <a:prstGeom prst="line">
            <a:avLst/>
          </a:prstGeom>
          <a:ln>
            <a:solidFill>
              <a:srgbClr val="1A2A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V="1">
            <a:off x="11991449" y="0"/>
            <a:ext cx="0" cy="6855884"/>
          </a:xfrm>
          <a:prstGeom prst="line">
            <a:avLst/>
          </a:prstGeom>
          <a:ln>
            <a:solidFill>
              <a:srgbClr val="EE8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 flipV="1">
            <a:off x="12042249" y="1"/>
            <a:ext cx="0" cy="6855883"/>
          </a:xfrm>
          <a:prstGeom prst="line">
            <a:avLst/>
          </a:prstGeom>
          <a:ln>
            <a:solidFill>
              <a:srgbClr val="C12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966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1402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3995-AD6D-E545-8FFB-0873E6C3DE9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5" y="5647284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A8D3C-B86A-E942-92EA-CCA5C0D5AD5C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Resim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78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5E2B8-C39A-5742-9BCB-443DEEAE7058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219" y="139286"/>
            <a:ext cx="1737362" cy="8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6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274639"/>
            <a:ext cx="2158827" cy="5851525"/>
          </a:xfrm>
        </p:spPr>
        <p:txBody>
          <a:bodyPr vert="eaVert"/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E7668-A790-5843-88C5-F92CCC4D67C4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Resim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946323" y="5243793"/>
            <a:ext cx="1255222" cy="102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170" y="279401"/>
            <a:ext cx="9789164" cy="76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169" y="1409700"/>
            <a:ext cx="11637547" cy="4991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40819" y="6490759"/>
            <a:ext cx="1057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F1426ECF-97AB-FC44-95EE-DD6B6A6D7916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76400" y="6490759"/>
            <a:ext cx="799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r>
              <a:rPr lang="en-US" dirty="0"/>
              <a:t>Genel Sekreterlik Çalıştayı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8028" y="6490759"/>
            <a:ext cx="925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arrow"/>
                <a:cs typeface="Arial Narrow"/>
              </a:defRPr>
            </a:lvl1pPr>
          </a:lstStyle>
          <a:p>
            <a:fld id="{B0620E17-498B-DE4E-AB4D-A787BC91D2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503" y="6566960"/>
            <a:ext cx="161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90"/>
                </a:solidFill>
                <a:latin typeface="Arial Narrow"/>
                <a:cs typeface="Arial Narrow"/>
              </a:rPr>
              <a:t>www.gtu.edu.tr</a:t>
            </a:r>
          </a:p>
        </p:txBody>
      </p:sp>
    </p:spTree>
    <p:extLst>
      <p:ext uri="{BB962C8B-B14F-4D97-AF65-F5344CB8AC3E}">
        <p14:creationId xmlns:p14="http://schemas.microsoft.com/office/powerpoint/2010/main" val="288126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 Narrow"/>
          <a:ea typeface="+mj-ea"/>
          <a:cs typeface="Arial Narrow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 Narrow"/>
          <a:ea typeface="+mn-ea"/>
          <a:cs typeface="Arial Narrow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 Narrow"/>
          <a:ea typeface="+mn-ea"/>
          <a:cs typeface="Arial Narrow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 Narrow"/>
          <a:ea typeface="+mn-ea"/>
          <a:cs typeface="Arial Narrow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68526"/>
            <a:ext cx="7924800" cy="1679575"/>
          </a:xfrm>
        </p:spPr>
        <p:txBody>
          <a:bodyPr/>
          <a:lstStyle/>
          <a:p>
            <a:r>
              <a:rPr lang="tr-TR" dirty="0"/>
              <a:t>Video </a:t>
            </a:r>
            <a:r>
              <a:rPr lang="tr-TR" dirty="0" err="1"/>
              <a:t>Scene</a:t>
            </a:r>
            <a:r>
              <a:rPr lang="tr-TR" dirty="0"/>
              <a:t> </a:t>
            </a:r>
            <a:r>
              <a:rPr lang="tr-TR" dirty="0" err="1"/>
              <a:t>Boundary</a:t>
            </a:r>
            <a:r>
              <a:rPr lang="tr-TR" dirty="0"/>
              <a:t> </a:t>
            </a:r>
            <a:r>
              <a:rPr lang="tr-TR" dirty="0" err="1"/>
              <a:t>Detection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653408"/>
            <a:ext cx="7137400" cy="243667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CSE 49</a:t>
            </a:r>
            <a:r>
              <a:rPr lang="tr-TR" dirty="0"/>
              <a:t>5</a:t>
            </a:r>
          </a:p>
          <a:p>
            <a:r>
              <a:rPr lang="en-US" dirty="0"/>
              <a:t>First Presentation</a:t>
            </a:r>
            <a:endParaRPr lang="tr-TR" dirty="0"/>
          </a:p>
          <a:p>
            <a:endParaRPr lang="tr-TR" dirty="0"/>
          </a:p>
          <a:p>
            <a:r>
              <a:rPr lang="tr-TR" dirty="0"/>
              <a:t>Serkan Efe Çamoğlu</a:t>
            </a:r>
          </a:p>
          <a:p>
            <a:endParaRPr lang="tr-TR" dirty="0"/>
          </a:p>
          <a:p>
            <a:r>
              <a:rPr lang="en-US" dirty="0"/>
              <a:t>Advisor: </a:t>
            </a:r>
            <a:r>
              <a:rPr lang="tr-TR" dirty="0"/>
              <a:t>Dr. Gökhan KAYA</a:t>
            </a:r>
          </a:p>
          <a:p>
            <a:r>
              <a:rPr lang="tr-TR" dirty="0" err="1"/>
              <a:t>October</a:t>
            </a:r>
            <a:r>
              <a:rPr lang="en-US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25134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Project </a:t>
            </a:r>
            <a:r>
              <a:rPr lang="tr-TR" dirty="0" err="1"/>
              <a:t>Overview</a:t>
            </a:r>
            <a:r>
              <a:rPr lang="tr-TR" dirty="0"/>
              <a:t> &amp; </a:t>
            </a:r>
            <a:r>
              <a:rPr lang="tr-TR" dirty="0" err="1"/>
              <a:t>Definitions</a:t>
            </a:r>
            <a:br>
              <a:rPr lang="tr-TR" dirty="0"/>
            </a:br>
            <a:endParaRPr lang="tr-TR" dirty="0"/>
          </a:p>
          <a:p>
            <a:r>
              <a:rPr lang="tr-TR" dirty="0"/>
              <a:t>Project Design Plan</a:t>
            </a:r>
            <a:br>
              <a:rPr lang="tr-TR" dirty="0"/>
            </a:br>
            <a:endParaRPr lang="tr-TR" dirty="0"/>
          </a:p>
          <a:p>
            <a:r>
              <a:rPr lang="tr-TR" dirty="0"/>
              <a:t>Project </a:t>
            </a:r>
            <a:r>
              <a:rPr lang="tr-TR" dirty="0" err="1"/>
              <a:t>Requirements</a:t>
            </a:r>
            <a:br>
              <a:rPr lang="tr-TR" dirty="0"/>
            </a:br>
            <a:endParaRPr lang="tr-TR" dirty="0"/>
          </a:p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br>
              <a:rPr lang="tr-TR" dirty="0"/>
            </a:br>
            <a:endParaRPr lang="tr-TR" dirty="0"/>
          </a:p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DAE15-0C4A-9243-A998-FED59F87DB60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1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</a:t>
            </a:r>
            <a:r>
              <a:rPr lang="tr-TR" dirty="0" err="1"/>
              <a:t>Overview</a:t>
            </a:r>
            <a:r>
              <a:rPr lang="tr-TR" dirty="0"/>
              <a:t> &amp; </a:t>
            </a:r>
            <a:r>
              <a:rPr lang="tr-TR" dirty="0" err="1"/>
              <a:t>Definitions</a:t>
            </a:r>
            <a:endParaRPr lang="tr-TR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İçerik Yer Tutucusu 2"/>
          <p:cNvSpPr txBox="1">
            <a:spLocks/>
          </p:cNvSpPr>
          <p:nvPr/>
        </p:nvSpPr>
        <p:spPr>
          <a:xfrm>
            <a:off x="5672830" y="1542847"/>
            <a:ext cx="6250887" cy="3262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tr-TR" altLang="en-US" sz="2400" b="1" dirty="0"/>
              <a:t>Video </a:t>
            </a:r>
            <a:r>
              <a:rPr lang="tr-TR" altLang="en-US" sz="2400" b="1" dirty="0" err="1"/>
              <a:t>Hierarchy</a:t>
            </a:r>
            <a:r>
              <a:rPr lang="tr-TR" altLang="en-US" sz="2400" b="1" dirty="0"/>
              <a:t> </a:t>
            </a:r>
            <a:r>
              <a:rPr lang="tr-TR" altLang="en-US" sz="2400" b="1" dirty="0" err="1"/>
              <a:t>Definitions</a:t>
            </a:r>
            <a:br>
              <a:rPr lang="tr-TR" altLang="en-US" sz="2400" b="1" dirty="0"/>
            </a:br>
            <a:endParaRPr lang="tr-TR" altLang="en-US" sz="2400" b="1" dirty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tr-TR" altLang="en-US" sz="2000" b="1" dirty="0" err="1"/>
              <a:t>Frame</a:t>
            </a:r>
            <a:r>
              <a:rPr lang="tr-TR" altLang="en-US" sz="2000" dirty="0"/>
              <a:t>: </a:t>
            </a:r>
            <a:r>
              <a:rPr lang="tr-TR" altLang="en-US" sz="2000" dirty="0" err="1"/>
              <a:t>The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smallest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single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image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that</a:t>
            </a:r>
            <a:r>
              <a:rPr lang="tr-TR" altLang="en-US" sz="2000" dirty="0"/>
              <a:t> </a:t>
            </a:r>
            <a:r>
              <a:rPr lang="tr-TR" altLang="en-US" sz="2000" dirty="0" err="1"/>
              <a:t>makes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up</a:t>
            </a:r>
            <a:r>
              <a:rPr lang="tr-TR" altLang="en-US" sz="2000" dirty="0"/>
              <a:t> a video</a:t>
            </a:r>
            <a:br>
              <a:rPr lang="tr-TR" altLang="en-US" sz="2000" dirty="0"/>
            </a:br>
            <a:endParaRPr lang="tr-TR" altLang="en-US" sz="2000" dirty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tr-TR" altLang="en-US" sz="2000" b="1" dirty="0" err="1"/>
              <a:t>Shot</a:t>
            </a:r>
            <a:r>
              <a:rPr lang="tr-TR" altLang="en-US" sz="2000" dirty="0"/>
              <a:t>: A </a:t>
            </a:r>
            <a:r>
              <a:rPr lang="tr-TR" altLang="en-US" sz="2000" dirty="0" err="1"/>
              <a:t>sequence</a:t>
            </a:r>
            <a:r>
              <a:rPr lang="tr-TR" altLang="en-US" sz="2000" dirty="0"/>
              <a:t> of </a:t>
            </a:r>
            <a:r>
              <a:rPr lang="tr-TR" altLang="en-US" sz="2000" dirty="0" err="1"/>
              <a:t>frames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from</a:t>
            </a:r>
            <a:r>
              <a:rPr lang="tr-TR" altLang="en-US" sz="2000" dirty="0"/>
              <a:t> a </a:t>
            </a:r>
            <a:r>
              <a:rPr lang="tr-TR" altLang="en-US" sz="2000" dirty="0" err="1"/>
              <a:t>single</a:t>
            </a:r>
            <a:r>
              <a:rPr lang="tr-TR" altLang="en-US" sz="2000" dirty="0"/>
              <a:t>, </a:t>
            </a:r>
            <a:r>
              <a:rPr lang="tr-TR" altLang="en-US" sz="2000" u="sng" dirty="0" err="1"/>
              <a:t>continuous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camera</a:t>
            </a:r>
            <a:r>
              <a:rPr lang="tr-TR" altLang="en-US" sz="2000" dirty="0"/>
              <a:t> </a:t>
            </a:r>
            <a:r>
              <a:rPr lang="tr-TR" altLang="en-US" sz="2000" dirty="0" err="1"/>
              <a:t>recording</a:t>
            </a:r>
            <a:r>
              <a:rPr lang="tr-TR" altLang="en-US" sz="2000" dirty="0"/>
              <a:t>.</a:t>
            </a:r>
            <a:br>
              <a:rPr lang="tr-TR" altLang="en-US" sz="2000" dirty="0"/>
            </a:br>
            <a:endParaRPr lang="tr-TR" altLang="en-US" sz="2000" dirty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tr-TR" altLang="en-US" sz="2000" b="1" dirty="0" err="1"/>
              <a:t>Scene</a:t>
            </a:r>
            <a:r>
              <a:rPr lang="tr-TR" altLang="en-US" sz="2000" dirty="0"/>
              <a:t>: A </a:t>
            </a:r>
            <a:r>
              <a:rPr lang="tr-TR" altLang="en-US" sz="2000" dirty="0" err="1"/>
              <a:t>collection</a:t>
            </a:r>
            <a:r>
              <a:rPr lang="tr-TR" altLang="en-US" sz="2000" dirty="0"/>
              <a:t> of </a:t>
            </a:r>
            <a:r>
              <a:rPr lang="tr-TR" altLang="en-US" sz="2000" dirty="0" err="1"/>
              <a:t>related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shots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that</a:t>
            </a:r>
            <a:r>
              <a:rPr lang="tr-TR" altLang="en-US" sz="2000" dirty="0"/>
              <a:t> form a </a:t>
            </a:r>
            <a:r>
              <a:rPr lang="tr-TR" altLang="en-US" sz="2000" dirty="0" err="1"/>
              <a:t>semantic</a:t>
            </a:r>
            <a:r>
              <a:rPr lang="tr-TR" altLang="en-US" sz="2000" dirty="0"/>
              <a:t> </a:t>
            </a:r>
            <a:r>
              <a:rPr lang="tr-TR" altLang="en-US" sz="2000" dirty="0" err="1"/>
              <a:t>unit</a:t>
            </a:r>
            <a:r>
              <a:rPr lang="tr-TR" altLang="en-US" sz="2000" dirty="0"/>
              <a:t>.</a:t>
            </a:r>
          </a:p>
        </p:txBody>
      </p:sp>
      <p:sp>
        <p:nvSpPr>
          <p:cNvPr id="9" name="İçerik Yer Tutucusu 2"/>
          <p:cNvSpPr txBox="1">
            <a:spLocks/>
          </p:cNvSpPr>
          <p:nvPr/>
        </p:nvSpPr>
        <p:spPr>
          <a:xfrm>
            <a:off x="554453" y="4303545"/>
            <a:ext cx="11637547" cy="2123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Arial Narrow"/>
                <a:ea typeface="+mn-ea"/>
                <a:cs typeface="Arial Narrow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tr-TR" altLang="en-US" sz="2400" b="1" kern="0" dirty="0" err="1"/>
              <a:t>What</a:t>
            </a:r>
            <a:r>
              <a:rPr lang="tr-TR" altLang="en-US" sz="2400" b="1" kern="0" dirty="0"/>
              <a:t> is </a:t>
            </a:r>
            <a:r>
              <a:rPr lang="tr-TR" altLang="en-US" sz="2400" b="1" kern="0" dirty="0" err="1"/>
              <a:t>Scene</a:t>
            </a:r>
            <a:r>
              <a:rPr lang="tr-TR" altLang="en-US" sz="2400" b="1" kern="0" dirty="0"/>
              <a:t> </a:t>
            </a:r>
            <a:r>
              <a:rPr lang="tr-TR" altLang="en-US" sz="2400" b="1" kern="0" dirty="0" err="1"/>
              <a:t>Boundary</a:t>
            </a:r>
            <a:r>
              <a:rPr lang="tr-TR" altLang="en-US" sz="2400" b="1" kern="0" dirty="0"/>
              <a:t> </a:t>
            </a:r>
            <a:r>
              <a:rPr lang="tr-TR" altLang="en-US" sz="2400" b="1" kern="0" dirty="0" err="1"/>
              <a:t>Detection</a:t>
            </a:r>
            <a:r>
              <a:rPr lang="tr-TR" altLang="en-US" sz="2400" b="1" kern="0" dirty="0"/>
              <a:t>?</a:t>
            </a:r>
            <a:br>
              <a:rPr lang="tr-TR" altLang="en-US" sz="2400" b="1" kern="0" dirty="0"/>
            </a:br>
            <a:endParaRPr lang="tr-TR" altLang="en-US" sz="2400" b="1" kern="0" dirty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is the </a:t>
            </a:r>
            <a:r>
              <a:rPr lang="en-US" sz="2000" b="1" dirty="0"/>
              <a:t>process</a:t>
            </a:r>
            <a:r>
              <a:rPr lang="en-US" sz="2000" dirty="0"/>
              <a:t> of automatically identifying the points where one semantic scene ends and another begins.</a:t>
            </a:r>
            <a:br>
              <a:rPr lang="tr-TR" sz="2000" dirty="0"/>
            </a:br>
            <a:endParaRPr lang="tr-TR" sz="2000" dirty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b="1" dirty="0"/>
              <a:t>goal</a:t>
            </a:r>
            <a:r>
              <a:rPr lang="en-US" sz="2000" dirty="0"/>
              <a:t> of this project is to build a system that segments a long video into these meaningful units called scenes.</a:t>
            </a:r>
            <a:br>
              <a:rPr lang="tr-TR" sz="2000" dirty="0"/>
            </a:br>
            <a:endParaRPr lang="tr-TR" altLang="en-US" sz="2000" b="1" kern="0" dirty="0"/>
          </a:p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It's the first and most critical step for video summarization, indexing, and content-based search.</a:t>
            </a:r>
            <a:endParaRPr lang="tr-TR" altLang="en-US" sz="2000" kern="0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85BC2CF-11F0-B2B4-95C0-610C2469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70" y="1272802"/>
            <a:ext cx="5469685" cy="289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Design Plan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7190912" y="1455269"/>
            <a:ext cx="4838330" cy="4991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000" dirty="0"/>
              <a:t>My</a:t>
            </a:r>
            <a:r>
              <a:rPr lang="en-US" sz="2000" dirty="0"/>
              <a:t> design follows a two-phase approach as shown in the diagram:</a:t>
            </a:r>
          </a:p>
          <a:p>
            <a:r>
              <a:rPr lang="en-US" sz="1800" b="1" dirty="0"/>
              <a:t>Phase 1 - Shot Detection:</a:t>
            </a:r>
            <a:r>
              <a:rPr lang="en-US" sz="1800" dirty="0"/>
              <a:t> First, </a:t>
            </a:r>
            <a:r>
              <a:rPr lang="tr-TR" sz="1800" dirty="0"/>
              <a:t>I</a:t>
            </a:r>
            <a:r>
              <a:rPr lang="en-US" sz="1800" dirty="0"/>
              <a:t> will segment the video into technical "shots". </a:t>
            </a:r>
            <a:r>
              <a:rPr lang="tr-TR" sz="1800" dirty="0"/>
              <a:t>I plan </a:t>
            </a:r>
            <a:r>
              <a:rPr lang="tr-TR" sz="1800" dirty="0" err="1"/>
              <a:t>to</a:t>
            </a:r>
            <a:r>
              <a:rPr lang="en-US" sz="1800" dirty="0"/>
              <a:t> use a reliable tool like </a:t>
            </a:r>
            <a:r>
              <a:rPr lang="en-US" sz="1800" b="1" dirty="0" err="1"/>
              <a:t>PySceneDetect</a:t>
            </a:r>
            <a:r>
              <a:rPr lang="en-US" sz="1800" dirty="0"/>
              <a:t> or a SOTA model like </a:t>
            </a:r>
            <a:r>
              <a:rPr lang="en-US" sz="1800" b="1" dirty="0" err="1"/>
              <a:t>TransNet</a:t>
            </a:r>
            <a:r>
              <a:rPr lang="tr-TR" sz="1800" b="1" dirty="0"/>
              <a:t> </a:t>
            </a:r>
            <a:r>
              <a:rPr lang="en-US" sz="1800" b="1" dirty="0"/>
              <a:t>V2</a:t>
            </a:r>
            <a:r>
              <a:rPr lang="en-US" sz="1800" dirty="0"/>
              <a:t> for this step.</a:t>
            </a:r>
            <a:br>
              <a:rPr lang="tr-TR" sz="1800" dirty="0"/>
            </a:br>
            <a:endParaRPr lang="en-US" sz="1800" dirty="0"/>
          </a:p>
          <a:p>
            <a:r>
              <a:rPr lang="en-US" sz="1800" b="1" dirty="0"/>
              <a:t>Phase 2 - Scene Clustering</a:t>
            </a:r>
            <a:r>
              <a:rPr lang="tr-TR" sz="1800" b="1" dirty="0"/>
              <a:t> (Main </a:t>
            </a:r>
            <a:r>
              <a:rPr lang="tr-TR" sz="1800" b="1" dirty="0" err="1"/>
              <a:t>Task</a:t>
            </a:r>
            <a:r>
              <a:rPr lang="tr-TR" sz="1800" b="1" dirty="0"/>
              <a:t>)</a:t>
            </a:r>
            <a:r>
              <a:rPr lang="en-US" sz="1800" b="1" dirty="0"/>
              <a:t>:</a:t>
            </a:r>
            <a:r>
              <a:rPr lang="en-US" sz="1800" dirty="0"/>
              <a:t> To form scenes, I will first extract content features from each shot using a powerful </a:t>
            </a:r>
            <a:r>
              <a:rPr lang="en-US" sz="1800" b="1" dirty="0"/>
              <a:t>pre-trained CNN</a:t>
            </a:r>
            <a:r>
              <a:rPr lang="en-US" sz="1800" dirty="0"/>
              <a:t>.</a:t>
            </a:r>
            <a:br>
              <a:rPr lang="tr-TR" sz="1800" dirty="0"/>
            </a:br>
            <a:endParaRPr lang="en-US" sz="1800" dirty="0"/>
          </a:p>
          <a:p>
            <a:r>
              <a:rPr lang="en-US" sz="1800" dirty="0"/>
              <a:t>Then, a clustering algorithm like </a:t>
            </a:r>
            <a:r>
              <a:rPr lang="en-US" sz="1800" b="1" dirty="0"/>
              <a:t>K-Means</a:t>
            </a:r>
            <a:r>
              <a:rPr lang="en-US" sz="1800" dirty="0"/>
              <a:t> will group the shots with similar content into the final scenes.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4</a:t>
            </a:fld>
            <a:endParaRPr lang="en-US" dirty="0"/>
          </a:p>
        </p:txBody>
      </p:sp>
      <p:pic>
        <p:nvPicPr>
          <p:cNvPr id="11" name="Resim 10" descr="metin, ekran görüntüsü, diyagram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03DB4F3-80D1-6D7A-8E50-2F30B8A6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70859"/>
            <a:ext cx="7232969" cy="40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3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Project </a:t>
            </a:r>
            <a:r>
              <a:rPr lang="tr-TR" dirty="0" err="1"/>
              <a:t>Requirements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altLang="en-US" sz="2800" b="1" u="sng" dirty="0"/>
              <a:t>Software </a:t>
            </a:r>
            <a:r>
              <a:rPr lang="tr-TR" altLang="en-US" sz="2800" b="1" u="sng" dirty="0" err="1"/>
              <a:t>Requirements</a:t>
            </a:r>
            <a:endParaRPr lang="tr-TR" alt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tr-TR" altLang="en-US" sz="2000" b="1" dirty="0" err="1"/>
              <a:t>Primary</a:t>
            </a:r>
            <a:r>
              <a:rPr lang="tr-TR" altLang="en-US" sz="2000" b="1" dirty="0"/>
              <a:t> Programming Language</a:t>
            </a:r>
            <a:r>
              <a:rPr lang="tr-TR" altLang="en-US" sz="2000" dirty="0"/>
              <a:t>: </a:t>
            </a:r>
            <a:r>
              <a:rPr lang="tr-TR" altLang="en-US" sz="2000" dirty="0" err="1"/>
              <a:t>The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project</a:t>
            </a:r>
            <a:r>
              <a:rPr lang="tr-TR" altLang="en-US" sz="2000" dirty="0"/>
              <a:t> </a:t>
            </a:r>
            <a:r>
              <a:rPr lang="tr-TR" altLang="en-US" sz="2000" dirty="0" err="1"/>
              <a:t>will</a:t>
            </a:r>
            <a:r>
              <a:rPr lang="tr-TR" altLang="en-US" sz="2000" dirty="0"/>
              <a:t> be </a:t>
            </a:r>
            <a:r>
              <a:rPr lang="tr-TR" altLang="en-US" sz="2000" dirty="0" err="1"/>
              <a:t>developed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using</a:t>
            </a:r>
            <a:r>
              <a:rPr lang="tr-TR" altLang="en-US" sz="2000" dirty="0"/>
              <a:t> </a:t>
            </a:r>
            <a:r>
              <a:rPr lang="tr-TR" altLang="en-US" sz="2000" b="1" dirty="0"/>
              <a:t>Python 3</a:t>
            </a:r>
            <a:r>
              <a:rPr lang="tr-TR" alt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altLang="en-US" sz="2000" b="1" dirty="0" err="1"/>
              <a:t>Shot</a:t>
            </a:r>
            <a:r>
              <a:rPr lang="tr-TR" altLang="en-US" sz="2000" b="1" dirty="0"/>
              <a:t> </a:t>
            </a:r>
            <a:r>
              <a:rPr lang="tr-TR" altLang="en-US" sz="2000" b="1" dirty="0" err="1"/>
              <a:t>Detection</a:t>
            </a:r>
            <a:r>
              <a:rPr lang="tr-TR" altLang="en-US" sz="2000" b="1" dirty="0"/>
              <a:t>: </a:t>
            </a:r>
            <a:r>
              <a:rPr lang="tr-TR" altLang="en-US" sz="2000" dirty="0"/>
              <a:t>I am </a:t>
            </a:r>
            <a:r>
              <a:rPr lang="tr-TR" altLang="en-US" sz="2000" dirty="0" err="1"/>
              <a:t>planning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to</a:t>
            </a:r>
            <a:r>
              <a:rPr lang="tr-TR" altLang="en-US" sz="2000" dirty="0"/>
              <a:t> </a:t>
            </a:r>
            <a:r>
              <a:rPr lang="tr-TR" altLang="en-US" sz="2000" dirty="0" err="1"/>
              <a:t>use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the</a:t>
            </a:r>
            <a:r>
              <a:rPr lang="tr-TR" altLang="en-US" sz="2000" dirty="0"/>
              <a:t> </a:t>
            </a:r>
            <a:r>
              <a:rPr lang="tr-TR" altLang="en-US" sz="2000" b="1" dirty="0" err="1"/>
              <a:t>PySceneDetect</a:t>
            </a:r>
            <a:r>
              <a:rPr lang="tr-TR" altLang="en-US" sz="2000" b="1" dirty="0"/>
              <a:t> </a:t>
            </a:r>
            <a:r>
              <a:rPr lang="tr-TR" altLang="en-US" sz="2000" dirty="0" err="1"/>
              <a:t>library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for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the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initial</a:t>
            </a:r>
            <a:r>
              <a:rPr lang="tr-TR" altLang="en-US" sz="2000" dirty="0"/>
              <a:t> </a:t>
            </a:r>
            <a:r>
              <a:rPr lang="tr-TR" altLang="en-US" sz="2000" dirty="0" err="1"/>
              <a:t>phase</a:t>
            </a:r>
            <a:r>
              <a:rPr lang="tr-TR" altLang="en-US" sz="2000" dirty="0"/>
              <a:t> of </a:t>
            </a:r>
            <a:r>
              <a:rPr lang="tr-TR" altLang="en-US" sz="2000" dirty="0" err="1"/>
              <a:t>detecting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shot</a:t>
            </a:r>
            <a:r>
              <a:rPr lang="tr-TR" altLang="en-US" sz="2000" dirty="0"/>
              <a:t> </a:t>
            </a:r>
            <a:r>
              <a:rPr lang="tr-TR" altLang="en-US" sz="2000" dirty="0" err="1"/>
              <a:t>boundaries</a:t>
            </a:r>
            <a:r>
              <a:rPr lang="tr-TR" altLang="en-US" sz="2000" dirty="0"/>
              <a:t>. </a:t>
            </a:r>
            <a:r>
              <a:rPr lang="tr-TR" altLang="en-US" sz="2000" dirty="0" err="1"/>
              <a:t>For</a:t>
            </a:r>
            <a:r>
              <a:rPr lang="tr-TR" altLang="en-US" sz="2000" dirty="0"/>
              <a:t> </a:t>
            </a:r>
            <a:r>
              <a:rPr lang="tr-TR" altLang="en-US" sz="2000" dirty="0" err="1"/>
              <a:t>higher</a:t>
            </a:r>
            <a:r>
              <a:rPr lang="tr-TR" altLang="en-US" sz="2000" dirty="0"/>
              <a:t> </a:t>
            </a:r>
            <a:r>
              <a:rPr lang="tr-TR" altLang="en-US" sz="2000" dirty="0" err="1"/>
              <a:t>precision</a:t>
            </a:r>
            <a:r>
              <a:rPr lang="tr-TR" altLang="en-US" sz="2000" dirty="0"/>
              <a:t>, SOTA </a:t>
            </a:r>
            <a:r>
              <a:rPr lang="tr-TR" altLang="en-US" sz="2000" dirty="0" err="1"/>
              <a:t>models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like</a:t>
            </a:r>
            <a:r>
              <a:rPr lang="tr-TR" altLang="en-US" sz="2000" dirty="0"/>
              <a:t> </a:t>
            </a:r>
            <a:r>
              <a:rPr lang="tr-TR" altLang="en-US" sz="2000" b="1" dirty="0" err="1"/>
              <a:t>TransNet</a:t>
            </a:r>
            <a:r>
              <a:rPr lang="tr-TR" altLang="en-US" sz="2000" b="1"/>
              <a:t> V2 </a:t>
            </a:r>
            <a:r>
              <a:rPr lang="tr-TR" altLang="en-US" sz="2000" dirty="0" err="1"/>
              <a:t>will</a:t>
            </a:r>
            <a:r>
              <a:rPr lang="tr-TR" altLang="en-US" sz="2000" dirty="0"/>
              <a:t> </a:t>
            </a:r>
            <a:r>
              <a:rPr lang="tr-TR" altLang="en-US" sz="2000" dirty="0" err="1"/>
              <a:t>also</a:t>
            </a:r>
            <a:r>
              <a:rPr lang="tr-TR" altLang="en-US" sz="2000" dirty="0"/>
              <a:t> be </a:t>
            </a:r>
            <a:r>
              <a:rPr lang="tr-TR" altLang="en-US" sz="2000" dirty="0" err="1"/>
              <a:t>considered</a:t>
            </a:r>
            <a:r>
              <a:rPr lang="tr-TR" alt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altLang="en-US" sz="2000" b="1" dirty="0"/>
              <a:t>Video </a:t>
            </a:r>
            <a:r>
              <a:rPr lang="tr-TR" altLang="en-US" sz="2000" b="1" dirty="0" err="1"/>
              <a:t>Processing</a:t>
            </a:r>
            <a:r>
              <a:rPr lang="tr-TR" altLang="en-US" sz="2000" b="1" dirty="0"/>
              <a:t>: </a:t>
            </a:r>
            <a:r>
              <a:rPr lang="tr-TR" altLang="en-US" sz="2000" b="1" dirty="0" err="1"/>
              <a:t>OpenCV</a:t>
            </a:r>
            <a:r>
              <a:rPr lang="tr-TR" altLang="en-US" sz="2000" dirty="0"/>
              <a:t> </a:t>
            </a:r>
            <a:r>
              <a:rPr lang="tr-TR" altLang="en-US" sz="2000" dirty="0" err="1"/>
              <a:t>will</a:t>
            </a:r>
            <a:r>
              <a:rPr lang="tr-TR" altLang="en-US" sz="2000" dirty="0"/>
              <a:t> be </a:t>
            </a:r>
            <a:r>
              <a:rPr lang="tr-TR" altLang="en-US" sz="2000" dirty="0" err="1"/>
              <a:t>used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for</a:t>
            </a:r>
            <a:r>
              <a:rPr lang="tr-TR" altLang="en-US" sz="2000" dirty="0"/>
              <a:t> </a:t>
            </a:r>
            <a:r>
              <a:rPr lang="tr-TR" altLang="en-US" sz="2000" dirty="0" err="1"/>
              <a:t>core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tasks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like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reading</a:t>
            </a:r>
            <a:r>
              <a:rPr lang="tr-TR" altLang="en-US" sz="2000" dirty="0"/>
              <a:t> </a:t>
            </a:r>
            <a:r>
              <a:rPr lang="tr-TR" altLang="en-US" sz="2000" dirty="0" err="1"/>
              <a:t>videos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frame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by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frame</a:t>
            </a:r>
            <a:r>
              <a:rPr lang="tr-TR" alt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altLang="en-US" sz="2000" b="1" dirty="0" err="1"/>
              <a:t>Feature</a:t>
            </a:r>
            <a:r>
              <a:rPr lang="tr-TR" altLang="en-US" sz="2000" b="1" dirty="0"/>
              <a:t> </a:t>
            </a:r>
            <a:r>
              <a:rPr lang="tr-TR" altLang="en-US" sz="2000" b="1" dirty="0" err="1"/>
              <a:t>Extraction</a:t>
            </a:r>
            <a:r>
              <a:rPr lang="tr-TR" altLang="en-US" sz="2000" b="1" dirty="0"/>
              <a:t>: </a:t>
            </a:r>
            <a:r>
              <a:rPr lang="tr-TR" altLang="en-US" sz="2000" b="1" dirty="0" err="1"/>
              <a:t>TensorFlow</a:t>
            </a:r>
            <a:r>
              <a:rPr lang="tr-TR" altLang="en-US" sz="2000" b="1" dirty="0"/>
              <a:t> </a:t>
            </a:r>
            <a:r>
              <a:rPr lang="tr-TR" altLang="en-US" sz="2000" b="1" dirty="0" err="1"/>
              <a:t>and</a:t>
            </a:r>
            <a:r>
              <a:rPr lang="tr-TR" altLang="en-US" sz="2000" b="1" dirty="0"/>
              <a:t> </a:t>
            </a:r>
            <a:r>
              <a:rPr lang="tr-TR" altLang="en-US" sz="2000" b="1" dirty="0" err="1"/>
              <a:t>Keras</a:t>
            </a:r>
            <a:r>
              <a:rPr lang="tr-TR" altLang="en-US" sz="2000" b="1" dirty="0"/>
              <a:t> </a:t>
            </a:r>
            <a:r>
              <a:rPr lang="tr-TR" altLang="en-US" sz="2000" dirty="0" err="1"/>
              <a:t>libraries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will</a:t>
            </a:r>
            <a:r>
              <a:rPr lang="tr-TR" altLang="en-US" sz="2000" dirty="0"/>
              <a:t> be </a:t>
            </a:r>
            <a:r>
              <a:rPr lang="tr-TR" altLang="en-US" sz="2000" dirty="0" err="1"/>
              <a:t>used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to</a:t>
            </a:r>
            <a:r>
              <a:rPr lang="tr-TR" altLang="en-US" sz="2000" dirty="0"/>
              <a:t> </a:t>
            </a:r>
            <a:r>
              <a:rPr lang="tr-TR" altLang="en-US" sz="2000" dirty="0" err="1"/>
              <a:t>load</a:t>
            </a:r>
            <a:r>
              <a:rPr lang="tr-TR" altLang="en-US" sz="2000" dirty="0"/>
              <a:t> a </a:t>
            </a:r>
            <a:r>
              <a:rPr lang="tr-TR" altLang="en-US" sz="2000" dirty="0" err="1"/>
              <a:t>pre-trained</a:t>
            </a:r>
            <a:r>
              <a:rPr lang="tr-TR" altLang="en-US" sz="2000" dirty="0"/>
              <a:t> CNN model </a:t>
            </a:r>
            <a:r>
              <a:rPr lang="tr-TR" altLang="en-US" sz="2000" dirty="0" err="1"/>
              <a:t>for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semantic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feature</a:t>
            </a:r>
            <a:r>
              <a:rPr lang="tr-TR" altLang="en-US" sz="2000" dirty="0"/>
              <a:t> </a:t>
            </a:r>
            <a:r>
              <a:rPr lang="tr-TR" altLang="en-US" sz="2000" dirty="0" err="1"/>
              <a:t>extraction</a:t>
            </a:r>
            <a:r>
              <a:rPr lang="tr-TR" altLang="en-US" sz="2000" dirty="0"/>
              <a:t> </a:t>
            </a:r>
            <a:r>
              <a:rPr lang="tr-TR" altLang="en-US" sz="2000" dirty="0" err="1"/>
              <a:t>from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shot</a:t>
            </a:r>
            <a:r>
              <a:rPr lang="tr-TR" altLang="en-US" sz="2000" dirty="0"/>
              <a:t> </a:t>
            </a:r>
            <a:r>
              <a:rPr lang="tr-TR" altLang="en-US" sz="2000" dirty="0" err="1"/>
              <a:t>keyframes</a:t>
            </a:r>
            <a:r>
              <a:rPr lang="tr-TR" alt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altLang="en-US" sz="2000" b="1" dirty="0"/>
              <a:t>Clustering: </a:t>
            </a:r>
            <a:r>
              <a:rPr lang="tr-TR" altLang="en-US" sz="2000" b="1" dirty="0" err="1"/>
              <a:t>Scikit-learn</a:t>
            </a:r>
            <a:r>
              <a:rPr lang="tr-TR" altLang="en-US" sz="2000" b="1" dirty="0"/>
              <a:t> </a:t>
            </a:r>
            <a:r>
              <a:rPr lang="tr-TR" altLang="en-US" sz="2000" dirty="0" err="1"/>
              <a:t>will</a:t>
            </a:r>
            <a:r>
              <a:rPr lang="tr-TR" altLang="en-US" sz="2000" dirty="0"/>
              <a:t> be </a:t>
            </a:r>
            <a:r>
              <a:rPr lang="tr-TR" altLang="en-US" sz="2000" dirty="0" err="1"/>
              <a:t>used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to</a:t>
            </a:r>
            <a:r>
              <a:rPr lang="tr-TR" altLang="en-US" sz="2000" dirty="0"/>
              <a:t> </a:t>
            </a:r>
            <a:r>
              <a:rPr lang="tr-TR" altLang="en-US" sz="2000" dirty="0" err="1"/>
              <a:t>implement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the</a:t>
            </a:r>
            <a:r>
              <a:rPr lang="tr-TR" altLang="en-US" sz="2000" dirty="0"/>
              <a:t> K-</a:t>
            </a:r>
            <a:r>
              <a:rPr lang="tr-TR" altLang="en-US" sz="2000" dirty="0" err="1"/>
              <a:t>Means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algorithm</a:t>
            </a:r>
            <a:r>
              <a:rPr lang="tr-TR" altLang="en-US" sz="2000" dirty="0"/>
              <a:t> </a:t>
            </a:r>
            <a:r>
              <a:rPr lang="tr-TR" altLang="en-US" sz="2000" dirty="0" err="1"/>
              <a:t>to</a:t>
            </a:r>
            <a:r>
              <a:rPr lang="tr-TR" altLang="en-US" sz="2000" dirty="0"/>
              <a:t> </a:t>
            </a:r>
            <a:r>
              <a:rPr lang="tr-TR" altLang="en-US" sz="2000" dirty="0" err="1"/>
              <a:t>group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shots</a:t>
            </a:r>
            <a:r>
              <a:rPr lang="tr-TR" altLang="en-US" sz="2000" dirty="0"/>
              <a:t> </a:t>
            </a:r>
            <a:r>
              <a:rPr lang="tr-TR" altLang="en-US" sz="2000" dirty="0" err="1"/>
              <a:t>into</a:t>
            </a:r>
            <a:r>
              <a:rPr lang="tr-TR" altLang="en-US" sz="2000" dirty="0"/>
              <a:t> </a:t>
            </a:r>
            <a:r>
              <a:rPr lang="tr-TR" altLang="en-US" sz="2000" dirty="0" err="1"/>
              <a:t>scenes</a:t>
            </a:r>
            <a:r>
              <a:rPr lang="tr-TR" altLang="en-US" sz="2000" dirty="0"/>
              <a:t>.</a:t>
            </a:r>
          </a:p>
          <a:p>
            <a:pPr marL="0" indent="0">
              <a:buNone/>
            </a:pPr>
            <a:br>
              <a:rPr lang="tr-TR" altLang="en-US" sz="2400" b="1" u="sng" dirty="0"/>
            </a:br>
            <a:r>
              <a:rPr lang="tr-TR" altLang="en-US" sz="2400" b="1" u="sng" dirty="0"/>
              <a:t>Data </a:t>
            </a:r>
            <a:r>
              <a:rPr lang="tr-TR" altLang="en-US" sz="2400" b="1" u="sng" dirty="0" err="1"/>
              <a:t>Requirements</a:t>
            </a:r>
            <a:endParaRPr lang="tr-TR" altLang="en-US" sz="2400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Various types of video files (movies, documentaries, TV shows) will be used for testing the system.</a:t>
            </a:r>
            <a:endParaRPr lang="tr-T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Manually annotated ground truth data will be created for a small set of videos to evaluate clustering performance.</a:t>
            </a:r>
            <a:endParaRPr lang="tr-TR" sz="2000" dirty="0"/>
          </a:p>
          <a:p>
            <a:pPr marL="0" indent="0">
              <a:buNone/>
            </a:pPr>
            <a:endParaRPr lang="tr-TR" altLang="en-US" sz="2400" b="1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47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Success</a:t>
            </a:r>
            <a:r>
              <a:rPr lang="tr-TR" dirty="0"/>
              <a:t> </a:t>
            </a:r>
            <a:r>
              <a:rPr lang="tr-TR" dirty="0" err="1"/>
              <a:t>Criteria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Criterion 1: Accurate Shot Detection (Phase 1)</a:t>
            </a:r>
            <a:endParaRPr lang="en-US" sz="2400" dirty="0"/>
          </a:p>
          <a:p>
            <a:pPr lvl="1"/>
            <a:r>
              <a:rPr lang="en-US" sz="2000" dirty="0"/>
              <a:t>The first phase must be reliable. Established tools like </a:t>
            </a:r>
            <a:r>
              <a:rPr lang="en-US" sz="2000" b="1" dirty="0" err="1"/>
              <a:t>PySceneDetect</a:t>
            </a:r>
            <a:r>
              <a:rPr lang="en-US" sz="2000" b="1" dirty="0"/>
              <a:t> </a:t>
            </a:r>
            <a:r>
              <a:rPr lang="en-US" sz="2000" dirty="0"/>
              <a:t>can </a:t>
            </a:r>
            <a:r>
              <a:rPr lang="tr-TR" sz="2000" dirty="0" err="1"/>
              <a:t>reach</a:t>
            </a:r>
            <a:r>
              <a:rPr lang="en-US" sz="2000" dirty="0"/>
              <a:t> F1-Score</a:t>
            </a:r>
            <a:r>
              <a:rPr lang="tr-TR" sz="2000" dirty="0"/>
              <a:t>s of </a:t>
            </a:r>
            <a:r>
              <a:rPr lang="tr-TR" sz="2000" b="1" dirty="0"/>
              <a:t>80-95%</a:t>
            </a:r>
            <a:r>
              <a:rPr lang="en-US" sz="2000" dirty="0"/>
              <a:t> on standard datasets</a:t>
            </a:r>
            <a:r>
              <a:rPr lang="tr-TR" sz="2000" dirty="0"/>
              <a:t>, </a:t>
            </a:r>
            <a:r>
              <a:rPr lang="tr-TR" sz="2000" dirty="0" err="1"/>
              <a:t>while</a:t>
            </a:r>
            <a:r>
              <a:rPr lang="tr-TR" sz="2000" dirty="0"/>
              <a:t> </a:t>
            </a:r>
            <a:r>
              <a:rPr lang="tr-TR" sz="2000" dirty="0" err="1"/>
              <a:t>models</a:t>
            </a:r>
            <a:r>
              <a:rPr lang="tr-TR" sz="2000" dirty="0"/>
              <a:t> </a:t>
            </a:r>
            <a:r>
              <a:rPr lang="tr-TR" sz="2000" dirty="0" err="1"/>
              <a:t>like</a:t>
            </a:r>
            <a:r>
              <a:rPr lang="tr-TR" sz="2000" dirty="0"/>
              <a:t> </a:t>
            </a:r>
            <a:r>
              <a:rPr lang="tr-TR" sz="2000" b="1" dirty="0" err="1"/>
              <a:t>TransNet</a:t>
            </a:r>
            <a:r>
              <a:rPr lang="tr-TR" sz="2000" b="1" dirty="0"/>
              <a:t> V2 </a:t>
            </a:r>
            <a:r>
              <a:rPr lang="tr-TR" sz="2000" dirty="0"/>
              <a:t>can </a:t>
            </a:r>
            <a:r>
              <a:rPr lang="tr-TR" sz="2000" dirty="0" err="1"/>
              <a:t>reach</a:t>
            </a:r>
            <a:r>
              <a:rPr lang="tr-TR" sz="2000" dirty="0"/>
              <a:t> F1-Scores of </a:t>
            </a:r>
            <a:r>
              <a:rPr lang="tr-TR" sz="2000" b="1" dirty="0"/>
              <a:t>91-96%.</a:t>
            </a:r>
            <a:endParaRPr lang="tr-TR" sz="2000" dirty="0"/>
          </a:p>
          <a:p>
            <a:pPr lvl="1"/>
            <a:r>
              <a:rPr lang="tr-TR" sz="2000" dirty="0"/>
              <a:t>My</a:t>
            </a:r>
            <a:r>
              <a:rPr lang="en-US" sz="2000" dirty="0"/>
              <a:t> goal for this phase is to achieve </a:t>
            </a:r>
            <a:r>
              <a:rPr lang="tr-TR" sz="2000" dirty="0"/>
              <a:t>an F1-Score in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b="1" dirty="0"/>
              <a:t>85-90% </a:t>
            </a:r>
            <a:r>
              <a:rPr lang="tr-TR" sz="2000" dirty="0" err="1"/>
              <a:t>range</a:t>
            </a:r>
            <a:r>
              <a:rPr lang="tr-TR" sz="2000" dirty="0"/>
              <a:t>, </a:t>
            </a:r>
            <a:r>
              <a:rPr lang="tr-TR" sz="2000" dirty="0" err="1"/>
              <a:t>which</a:t>
            </a:r>
            <a:r>
              <a:rPr lang="tr-TR" sz="2000" dirty="0"/>
              <a:t> </a:t>
            </a:r>
            <a:r>
              <a:rPr lang="tr-TR" sz="2000" dirty="0" err="1"/>
              <a:t>will</a:t>
            </a:r>
            <a:r>
              <a:rPr lang="tr-TR" sz="2000" dirty="0"/>
              <a:t> </a:t>
            </a:r>
            <a:r>
              <a:rPr lang="tr-TR" sz="2000" dirty="0" err="1"/>
              <a:t>provide</a:t>
            </a:r>
            <a:r>
              <a:rPr lang="tr-TR" sz="2000" dirty="0"/>
              <a:t> a </a:t>
            </a:r>
            <a:r>
              <a:rPr lang="tr-TR" sz="2000" dirty="0" err="1"/>
              <a:t>strong</a:t>
            </a:r>
            <a:r>
              <a:rPr lang="tr-TR" sz="2000" dirty="0"/>
              <a:t> </a:t>
            </a:r>
            <a:r>
              <a:rPr lang="tr-TR" sz="2000" dirty="0" err="1"/>
              <a:t>foundation</a:t>
            </a:r>
            <a:r>
              <a:rPr lang="tr-TR" sz="2000" dirty="0"/>
              <a:t> </a:t>
            </a:r>
            <a:r>
              <a:rPr lang="tr-TR" sz="2000" dirty="0" err="1"/>
              <a:t>for</a:t>
            </a:r>
            <a:r>
              <a:rPr lang="tr-TR" sz="2000" dirty="0"/>
              <a:t> </a:t>
            </a:r>
            <a:r>
              <a:rPr lang="tr-TR" sz="2000" dirty="0" err="1"/>
              <a:t>clustering</a:t>
            </a:r>
            <a:r>
              <a:rPr lang="tr-TR" sz="2000" dirty="0"/>
              <a:t>.</a:t>
            </a:r>
            <a:br>
              <a:rPr lang="tr-TR" sz="1600" dirty="0"/>
            </a:br>
            <a:endParaRPr lang="tr-TR" sz="1600" dirty="0"/>
          </a:p>
          <a:p>
            <a:r>
              <a:rPr lang="en-US" sz="2400" b="1" dirty="0"/>
              <a:t>Criterion 2: Meaningful Scene Clustering (Phase 2)</a:t>
            </a:r>
            <a:endParaRPr lang="en-US" sz="2400" dirty="0"/>
          </a:p>
          <a:p>
            <a:pPr lvl="1"/>
            <a:r>
              <a:rPr lang="en-US" sz="2000" dirty="0"/>
              <a:t>This is the main </a:t>
            </a:r>
            <a:r>
              <a:rPr lang="tr-TR" sz="2000" dirty="0" err="1"/>
              <a:t>project</a:t>
            </a:r>
            <a:r>
              <a:rPr lang="tr-TR" sz="2000" dirty="0"/>
              <a:t> </a:t>
            </a:r>
            <a:r>
              <a:rPr lang="en-US" sz="2000" dirty="0"/>
              <a:t>goal. </a:t>
            </a:r>
            <a:r>
              <a:rPr lang="tr-TR" sz="2000" dirty="0"/>
              <a:t>I</a:t>
            </a:r>
            <a:r>
              <a:rPr lang="en-US" sz="2000" dirty="0"/>
              <a:t> will evaluate </a:t>
            </a:r>
            <a:r>
              <a:rPr lang="tr-TR" sz="2000" dirty="0" err="1"/>
              <a:t>my</a:t>
            </a:r>
            <a:r>
              <a:rPr lang="en-US" sz="2000" dirty="0"/>
              <a:t> clustering performance using </a:t>
            </a:r>
            <a:r>
              <a:rPr lang="tr-TR" sz="2000" b="1" dirty="0" err="1"/>
              <a:t>Average</a:t>
            </a:r>
            <a:r>
              <a:rPr lang="tr-TR" sz="2000" b="1" dirty="0"/>
              <a:t> Precision (AP)</a:t>
            </a:r>
            <a:r>
              <a:rPr lang="en-US" sz="2000" dirty="0"/>
              <a:t>.</a:t>
            </a:r>
            <a:endParaRPr lang="tr-TR" sz="2000" dirty="0"/>
          </a:p>
          <a:p>
            <a:pPr lvl="1"/>
            <a:r>
              <a:rPr lang="tr-TR" sz="2000" dirty="0"/>
              <a:t>My </a:t>
            </a:r>
            <a:r>
              <a:rPr lang="tr-TR" sz="2000" dirty="0" err="1"/>
              <a:t>target</a:t>
            </a:r>
            <a:r>
              <a:rPr lang="tr-TR" sz="2000" dirty="0"/>
              <a:t> </a:t>
            </a:r>
            <a:r>
              <a:rPr lang="tr-TR" sz="2000" dirty="0" err="1"/>
              <a:t>for</a:t>
            </a:r>
            <a:r>
              <a:rPr lang="tr-TR" sz="2000" dirty="0"/>
              <a:t> AP </a:t>
            </a:r>
            <a:r>
              <a:rPr lang="tr-TR" sz="2000" dirty="0" err="1"/>
              <a:t>score</a:t>
            </a:r>
            <a:r>
              <a:rPr lang="tr-TR" sz="2000" dirty="0"/>
              <a:t> is </a:t>
            </a:r>
            <a:r>
              <a:rPr lang="tr-TR" sz="2000" b="1" dirty="0"/>
              <a:t>50-60%</a:t>
            </a:r>
            <a:r>
              <a:rPr lang="tr-TR" sz="2000" dirty="0"/>
              <a:t>. </a:t>
            </a:r>
            <a:r>
              <a:rPr lang="tr-TR" sz="2000" dirty="0" err="1"/>
              <a:t>This</a:t>
            </a:r>
            <a:r>
              <a:rPr lang="tr-TR" sz="2000" dirty="0"/>
              <a:t> </a:t>
            </a:r>
            <a:r>
              <a:rPr lang="tr-TR" sz="2000" dirty="0" err="1"/>
              <a:t>range</a:t>
            </a:r>
            <a:r>
              <a:rPr lang="tr-TR" sz="2000" dirty="0"/>
              <a:t> is </a:t>
            </a:r>
            <a:r>
              <a:rPr lang="tr-TR" sz="2000" dirty="0" err="1"/>
              <a:t>competitive</a:t>
            </a:r>
            <a:r>
              <a:rPr lang="tr-TR" sz="2000" dirty="0"/>
              <a:t> </a:t>
            </a:r>
            <a:r>
              <a:rPr lang="tr-TR" sz="2000" dirty="0" err="1"/>
              <a:t>with</a:t>
            </a:r>
            <a:r>
              <a:rPr lang="tr-TR" sz="2000" dirty="0"/>
              <a:t> </a:t>
            </a:r>
            <a:r>
              <a:rPr lang="tr-TR" sz="2000" dirty="0" err="1"/>
              <a:t>recent</a:t>
            </a:r>
            <a:r>
              <a:rPr lang="tr-TR" sz="2000" dirty="0"/>
              <a:t> SOTA </a:t>
            </a:r>
            <a:r>
              <a:rPr lang="tr-TR" sz="2000" dirty="0" err="1"/>
              <a:t>models</a:t>
            </a:r>
            <a:r>
              <a:rPr lang="tr-TR" sz="2000" dirty="0"/>
              <a:t> </a:t>
            </a:r>
            <a:r>
              <a:rPr lang="tr-TR" sz="2000" dirty="0" err="1"/>
              <a:t>for</a:t>
            </a:r>
            <a:r>
              <a:rPr lang="tr-TR" sz="2000" dirty="0"/>
              <a:t> </a:t>
            </a:r>
            <a:r>
              <a:rPr lang="tr-TR" sz="2000" dirty="0" err="1"/>
              <a:t>scene</a:t>
            </a:r>
            <a:r>
              <a:rPr lang="tr-TR" sz="2000" dirty="0"/>
              <a:t> </a:t>
            </a:r>
            <a:r>
              <a:rPr lang="tr-TR" sz="2000" dirty="0" err="1"/>
              <a:t>detection</a:t>
            </a:r>
            <a:r>
              <a:rPr lang="tr-TR" sz="2000" dirty="0"/>
              <a:t>.</a:t>
            </a:r>
            <a:br>
              <a:rPr lang="tr-TR" sz="1600" dirty="0"/>
            </a:br>
            <a:endParaRPr lang="tr-TR" sz="1600" dirty="0"/>
          </a:p>
          <a:p>
            <a:r>
              <a:rPr lang="tr-TR" sz="2400" b="1" dirty="0" err="1"/>
              <a:t>Criterion</a:t>
            </a:r>
            <a:r>
              <a:rPr lang="tr-TR" sz="2400" b="1" dirty="0"/>
              <a:t> 3: </a:t>
            </a:r>
            <a:r>
              <a:rPr lang="tr-TR" sz="2400" b="1" dirty="0" err="1"/>
              <a:t>Overall</a:t>
            </a:r>
            <a:r>
              <a:rPr lang="tr-TR" sz="2400" b="1" dirty="0"/>
              <a:t> </a:t>
            </a:r>
            <a:r>
              <a:rPr lang="tr-TR" sz="2400" b="1" dirty="0" err="1"/>
              <a:t>System</a:t>
            </a:r>
            <a:r>
              <a:rPr lang="tr-TR" sz="2400" b="1" dirty="0"/>
              <a:t> F1-Score</a:t>
            </a:r>
          </a:p>
          <a:p>
            <a:pPr lvl="1"/>
            <a:r>
              <a:rPr lang="tr-TR" sz="2000" dirty="0" err="1"/>
              <a:t>This</a:t>
            </a:r>
            <a:r>
              <a:rPr lang="tr-TR" sz="2000" dirty="0"/>
              <a:t> </a:t>
            </a:r>
            <a:r>
              <a:rPr lang="tr-TR" sz="2000" dirty="0" err="1"/>
              <a:t>metric</a:t>
            </a:r>
            <a:r>
              <a:rPr lang="tr-TR" sz="2000" dirty="0"/>
              <a:t> </a:t>
            </a:r>
            <a:r>
              <a:rPr lang="tr-TR" sz="2000" dirty="0" err="1"/>
              <a:t>measures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final, </a:t>
            </a:r>
            <a:r>
              <a:rPr lang="tr-TR" sz="2000" dirty="0" err="1"/>
              <a:t>end-to-end</a:t>
            </a:r>
            <a:r>
              <a:rPr lang="tr-TR" sz="2000" dirty="0"/>
              <a:t> </a:t>
            </a:r>
            <a:r>
              <a:rPr lang="tr-TR" sz="2000" dirty="0" err="1"/>
              <a:t>performance</a:t>
            </a:r>
            <a:r>
              <a:rPr lang="tr-TR" sz="2000" dirty="0"/>
              <a:t> of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system</a:t>
            </a:r>
            <a:r>
              <a:rPr lang="tr-TR" sz="2000" dirty="0"/>
              <a:t>.</a:t>
            </a:r>
          </a:p>
          <a:p>
            <a:pPr lvl="1"/>
            <a:r>
              <a:rPr lang="tr-TR" sz="2000" dirty="0" err="1"/>
              <a:t>Considering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high</a:t>
            </a:r>
            <a:r>
              <a:rPr lang="tr-TR" sz="2000" dirty="0"/>
              <a:t> </a:t>
            </a:r>
            <a:r>
              <a:rPr lang="tr-TR" sz="2000" dirty="0" err="1"/>
              <a:t>accuracy</a:t>
            </a:r>
            <a:r>
              <a:rPr lang="tr-TR" sz="2000" dirty="0"/>
              <a:t> of </a:t>
            </a:r>
            <a:r>
              <a:rPr lang="tr-TR" sz="2000" u="sng" dirty="0" err="1"/>
              <a:t>Phase</a:t>
            </a:r>
            <a:r>
              <a:rPr lang="tr-TR" sz="2000" u="sng" dirty="0"/>
              <a:t> 1</a:t>
            </a:r>
            <a:r>
              <a:rPr lang="tr-TR" sz="2000" dirty="0"/>
              <a:t> </a:t>
            </a:r>
            <a:r>
              <a:rPr lang="tr-TR" sz="2000" dirty="0" err="1"/>
              <a:t>and</a:t>
            </a:r>
            <a:r>
              <a:rPr lang="tr-TR" sz="2000" dirty="0"/>
              <a:t>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dirty="0" err="1"/>
              <a:t>semantic</a:t>
            </a:r>
            <a:r>
              <a:rPr lang="tr-TR" sz="2000" dirty="0"/>
              <a:t> </a:t>
            </a:r>
            <a:r>
              <a:rPr lang="tr-TR" sz="2000" dirty="0" err="1"/>
              <a:t>complexity</a:t>
            </a:r>
            <a:r>
              <a:rPr lang="tr-TR" sz="2000" dirty="0"/>
              <a:t> of </a:t>
            </a:r>
            <a:r>
              <a:rPr lang="tr-TR" sz="2000" u="sng" dirty="0" err="1"/>
              <a:t>Phase</a:t>
            </a:r>
            <a:r>
              <a:rPr lang="tr-TR" sz="2000" u="sng" dirty="0"/>
              <a:t> 2</a:t>
            </a:r>
            <a:r>
              <a:rPr lang="tr-TR" sz="2000" dirty="0"/>
              <a:t>, an </a:t>
            </a:r>
            <a:r>
              <a:rPr lang="tr-TR" sz="2000" dirty="0" err="1"/>
              <a:t>overall</a:t>
            </a:r>
            <a:r>
              <a:rPr lang="tr-TR" sz="2000" dirty="0"/>
              <a:t> F1-Score in </a:t>
            </a:r>
            <a:r>
              <a:rPr lang="tr-TR" sz="2000" dirty="0" err="1"/>
              <a:t>the</a:t>
            </a:r>
            <a:r>
              <a:rPr lang="tr-TR" sz="2000" dirty="0"/>
              <a:t> </a:t>
            </a:r>
            <a:r>
              <a:rPr lang="tr-TR" sz="2000" b="1" dirty="0"/>
              <a:t>55-70%</a:t>
            </a:r>
            <a:r>
              <a:rPr lang="tr-TR" sz="2000" dirty="0"/>
              <a:t> </a:t>
            </a:r>
            <a:r>
              <a:rPr lang="tr-TR" sz="2000" dirty="0" err="1"/>
              <a:t>range</a:t>
            </a:r>
            <a:r>
              <a:rPr lang="tr-TR" sz="2000" dirty="0"/>
              <a:t> is a </a:t>
            </a:r>
            <a:r>
              <a:rPr lang="tr-TR" sz="2000" dirty="0" err="1"/>
              <a:t>strong</a:t>
            </a:r>
            <a:r>
              <a:rPr lang="tr-TR" sz="2000" dirty="0"/>
              <a:t> </a:t>
            </a:r>
            <a:r>
              <a:rPr lang="tr-TR" sz="2000" dirty="0" err="1"/>
              <a:t>and</a:t>
            </a:r>
            <a:r>
              <a:rPr lang="tr-TR" sz="2000" dirty="0"/>
              <a:t> </a:t>
            </a:r>
            <a:r>
              <a:rPr lang="tr-TR" sz="2000" dirty="0" err="1"/>
              <a:t>realistic</a:t>
            </a:r>
            <a:r>
              <a:rPr lang="tr-TR" sz="2000" dirty="0"/>
              <a:t> </a:t>
            </a:r>
            <a:r>
              <a:rPr lang="tr-TR" sz="2000" dirty="0" err="1"/>
              <a:t>target</a:t>
            </a:r>
            <a:r>
              <a:rPr lang="tr-TR" sz="2000" dirty="0"/>
              <a:t>.</a:t>
            </a:r>
            <a:endParaRPr lang="en-US" sz="2000" dirty="0"/>
          </a:p>
          <a:p>
            <a:endParaRPr lang="en-US" sz="2400" dirty="0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61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References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Tx/>
              <a:buAutoNum type="arabicPeriod"/>
            </a:pPr>
            <a:r>
              <a:rPr lang="en-US" sz="2400" dirty="0"/>
              <a:t>Kar, T., Kanungo, P., Mohanty, S. N., Groppe, S., &amp; Groppe, J. (2024). Video shot-boundary detection: issues, challenges and solutions. Artificial Intelligence Review, 57(1), 104.</a:t>
            </a:r>
            <a:endParaRPr lang="tr-TR" sz="2400" dirty="0"/>
          </a:p>
          <a:p>
            <a:pPr marL="514350" indent="-514350">
              <a:buFontTx/>
              <a:buAutoNum type="arabicPeriod"/>
            </a:pPr>
            <a:r>
              <a:rPr lang="en-US" sz="2400" dirty="0"/>
              <a:t>Gushchin, A., </a:t>
            </a:r>
            <a:r>
              <a:rPr lang="en-US" sz="2400" dirty="0" err="1"/>
              <a:t>Antsiferova</a:t>
            </a:r>
            <a:r>
              <a:rPr lang="en-US" sz="2400" dirty="0"/>
              <a:t>, A., &amp; </a:t>
            </a:r>
            <a:r>
              <a:rPr lang="en-US" sz="2400" dirty="0" err="1"/>
              <a:t>Vatolin</a:t>
            </a:r>
            <a:r>
              <a:rPr lang="en-US" sz="2400" dirty="0"/>
              <a:t>, D. (2021). Shot Boundary Detection Method Based on a New Extensive Dataset and Mixed Features. In CEUR Workshop Proceedings (Vol. 3027, pp. 18-28).</a:t>
            </a:r>
            <a:endParaRPr lang="tr-TR" sz="2400" dirty="0"/>
          </a:p>
          <a:p>
            <a:pPr marL="514350" indent="-514350">
              <a:buFontTx/>
              <a:buAutoNum type="arabicPeriod"/>
            </a:pPr>
            <a:r>
              <a:rPr lang="en-US" sz="2400" dirty="0" err="1"/>
              <a:t>Benoughidene</a:t>
            </a:r>
            <a:r>
              <a:rPr lang="en-US" sz="2400" dirty="0"/>
              <a:t>, A. H., &amp; </a:t>
            </a:r>
            <a:r>
              <a:rPr lang="en-US" sz="2400" dirty="0" err="1"/>
              <a:t>Titouna</a:t>
            </a:r>
            <a:r>
              <a:rPr lang="en-US" sz="2400" dirty="0"/>
              <a:t>, F. (2020). Shot Boundary Detection: Fundamental Concepts and Survey. In CEUR Workshop Proceedings (Vol. 2589, pp. 58-64).</a:t>
            </a:r>
            <a:endParaRPr lang="tr-TR" sz="2400" dirty="0"/>
          </a:p>
          <a:p>
            <a:pPr marL="514350" indent="-514350">
              <a:buFontTx/>
              <a:buAutoNum type="arabicPeriod"/>
            </a:pPr>
            <a:r>
              <a:rPr lang="en-US" sz="2400" dirty="0" err="1"/>
              <a:t>Akewar</a:t>
            </a:r>
            <a:r>
              <a:rPr lang="en-US" sz="2400" dirty="0"/>
              <a:t>, M. (n.d.). Scene Boundary Detection Approaches: A Review.</a:t>
            </a:r>
            <a:endParaRPr lang="tr-TR" sz="2400" dirty="0"/>
          </a:p>
          <a:p>
            <a:pPr marL="514350" indent="-514350">
              <a:buFontTx/>
              <a:buAutoNum type="arabicPeriod"/>
            </a:pPr>
            <a:r>
              <a:rPr lang="en-US" sz="2400" dirty="0"/>
              <a:t>Cooper, M., &amp; Foote, J. (n.d.). Scene Boundary Detection via Video Self-Similarity Analysis.</a:t>
            </a:r>
            <a:br>
              <a:rPr lang="tr-TR" altLang="en-US" sz="2400" dirty="0"/>
            </a:br>
            <a:r>
              <a:rPr lang="tr-TR" altLang="en-US" sz="2400" dirty="0"/>
              <a:t> 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5AF8-FBFA-904C-996A-85580394FB5B}" type="datetime1">
              <a:rPr lang="tr-TR" smtClean="0"/>
              <a:t>14.10.2025</a:t>
            </a:fld>
            <a:endParaRPr lang="en-US" dirty="0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/>
              <a:t>CSE496 – First Presentation</a:t>
            </a:r>
            <a:endParaRPr lang="en-US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20E17-498B-DE4E-AB4D-A787BC91D2A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962686"/>
      </p:ext>
    </p:extLst>
  </p:cSld>
  <p:clrMapOvr>
    <a:masterClrMapping/>
  </p:clrMapOvr>
</p:sld>
</file>

<file path=ppt/theme/theme1.xml><?xml version="1.0" encoding="utf-8"?>
<a:theme xmlns:a="http://schemas.openxmlformats.org/drawingml/2006/main" name="GTU-ŞABLON-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st-sunum-GTU" id="{578639C5-6840-EB44-BB8C-38A47CB3FC37}" vid="{F2FEAD9A-9D10-6743-913C-E16FF5C7AA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389811D033C74F8C5494A71C07DB29" ma:contentTypeVersion="0" ma:contentTypeDescription="Create a new document." ma:contentTypeScope="" ma:versionID="0120f00a6e22405ba742fd648e0b08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45251B-9984-414C-BAB5-F5F3B79DCF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F19564-8C6F-45DC-9ED0-17F7702A30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584023-2426-4597-A7B7-5BEBE999C6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</TotalTime>
  <Words>777</Words>
  <Application>Microsoft Office PowerPoint</Application>
  <PresentationFormat>Geniş ekran</PresentationFormat>
  <Paragraphs>72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Calibri</vt:lpstr>
      <vt:lpstr>GTU-ŞABLON-1</vt:lpstr>
      <vt:lpstr>Video Scene Boundary Detection</vt:lpstr>
      <vt:lpstr>Contents</vt:lpstr>
      <vt:lpstr>Project Overview &amp; Definitions</vt:lpstr>
      <vt:lpstr>Project Design Plan</vt:lpstr>
      <vt:lpstr>Project Requirements</vt:lpstr>
      <vt:lpstr>Success Criteria</vt:lpstr>
      <vt:lpstr>References</vt:lpstr>
    </vt:vector>
  </TitlesOfParts>
  <Company>GYTE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Mehmet Göktürk</dc:creator>
  <cp:lastModifiedBy>SERKAN EFE ÇAMOĞLU</cp:lastModifiedBy>
  <cp:revision>22</cp:revision>
  <dcterms:created xsi:type="dcterms:W3CDTF">2015-02-28T16:59:24Z</dcterms:created>
  <dcterms:modified xsi:type="dcterms:W3CDTF">2025-10-14T18:40:54Z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0x010100E9389811D033C74F8C5494A71C07DB29</vt:lpwstr>
  </property>
</Properties>
</file>